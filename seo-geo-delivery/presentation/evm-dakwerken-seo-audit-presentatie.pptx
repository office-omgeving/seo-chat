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Pagina's in sitemap</c:v>
                </c:pt>
              </c:strCache>
            </c:strRef>
          </c:tx>
          <c:spPr>
            <a:solidFill>
              <a:srgbClr val="1E5A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EVM Dakwerken</c:v>
                  </c:pt>
                  <c:pt idx="1">
                    <c:v>Recotex</c:v>
                  </c:pt>
                  <c:pt idx="2">
                    <c:v>Kijzer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169</c:v>
                </c:pt>
                <c:pt idx="2">
                  <c:v>1202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5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ro.jpe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7">
              <a:alpha val="72000"/>
            </a:srgbClr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94360" y="658368"/>
            <a:ext cx="4114800" cy="5440680"/>
          </a:xfrm>
          <a:prstGeom prst="roundRect">
            <a:avLst>
              <a:gd name="adj" fmla="val 177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assets/evm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69" y="896112"/>
            <a:ext cx="1364942" cy="7498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1874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SEO Audit en groeiplan</a:t>
            </a:r>
            <a:endParaRPr lang="en-US" sz="2500" dirty="0"/>
          </a:p>
        </p:txBody>
      </p:sp>
      <p:sp>
        <p:nvSpPr>
          <p:cNvPr id="7" name="Text 3"/>
          <p:cNvSpPr/>
          <p:nvPr/>
        </p:nvSpPr>
        <p:spPr>
          <a:xfrm>
            <a:off x="82296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5A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EVM Dakwerken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22960" y="3090672"/>
            <a:ext cx="3337560" cy="1052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 brochure-site naar een lokale leadgeneratie-machine voor hellende daken, platte daken, sandwichpanelen en indak zonnepanelen.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22960" y="55321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Auditdatum: 14 maart 2026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822960" y="57790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Benchmark: Kijzer, Recotex, Cralux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Wat zien we vandaag?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190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EVM Dakwerken SEO Audit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008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91440" cy="192024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99032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 de site nu doet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1764792"/>
            <a:ext cx="3346704" cy="9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huidige website werkt vooral als een nette brochure-site. Ze toont het dienstenaanbod en contactgegevens, maar is nog niet ingericht als leadgenererende SEO-machine.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70248" y="123444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3EE"/>
          </a:solidFill>
          <a:ln w="12700">
            <a:solidFill>
              <a:srgbClr val="FFF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234440"/>
            <a:ext cx="91440" cy="1920240"/>
          </a:xfrm>
          <a:prstGeom prst="rect">
            <a:avLst/>
          </a:prstGeom>
          <a:solidFill>
            <a:srgbClr val="C44E42"/>
          </a:solidFill>
          <a:ln w="12700">
            <a:solidFill>
              <a:srgbClr val="C44E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1416" y="1399032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Grootste SEO-problemen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71416" y="1764792"/>
            <a:ext cx="3346704" cy="79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 weinig pagina's, generieke metadata, bijna geen lokale SEO-structuur, geen blog of cases, slechte alt-tags en zwakke mobiele laadsnelheid.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83296" y="123444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EEF9F5"/>
          </a:solidFill>
          <a:ln w="12700">
            <a:solidFill>
              <a:srgbClr val="EEF9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83296" y="1234440"/>
            <a:ext cx="91440" cy="1920240"/>
          </a:xfrm>
          <a:prstGeom prst="rect">
            <a:avLst/>
          </a:prstGeom>
          <a:solidFill>
            <a:srgbClr val="1F8C6D"/>
          </a:solidFill>
          <a:ln w="12700">
            <a:solidFill>
              <a:srgbClr val="1F8C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1399032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Grootste groeikansen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84464" y="1764792"/>
            <a:ext cx="3346704" cy="9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Nieuwe dienstpagina's, provincie- en stadspagina's, prijs- en vergelijkingscontent, sterkere interne links en GEO-content voor AI-zoekmachines.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85876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5A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04672" y="431596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Indexeerbare pagina's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697480" y="36576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CEBE8"/>
          </a:solidFill>
          <a:ln w="12700">
            <a:solidFill>
              <a:srgbClr val="FCEB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62072" y="385876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4E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862072" y="431596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Blogartikels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BF1E4"/>
          </a:solidFill>
          <a:ln w="12700">
            <a:solidFill>
              <a:srgbClr val="FBF1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85876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7,6 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919472" y="431596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Mobiele LCP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12280" y="36576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76872" y="385876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5A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976872" y="431596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Doelprovincies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69680" y="36576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E7F6F1"/>
          </a:solidFill>
          <a:ln w="12700">
            <a:solidFill>
              <a:srgbClr val="E7F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34272" y="385876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8C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~100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034272" y="431596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Aanbevolen paginadoel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5257800"/>
            <a:ext cx="10241280" cy="822960"/>
          </a:xfrm>
          <a:prstGeom prst="roundRect">
            <a:avLst>
              <a:gd name="adj" fmla="val 8889"/>
            </a:avLst>
          </a:prstGeom>
          <a:solidFill>
            <a:srgbClr val="F6EFE5"/>
          </a:solidFill>
          <a:ln w="12700">
            <a:solidFill>
              <a:srgbClr val="F6EF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5257800"/>
            <a:ext cx="91440" cy="822960"/>
          </a:xfrm>
          <a:prstGeom prst="rect">
            <a:avLst/>
          </a:prstGeom>
          <a:solidFill>
            <a:srgbClr val="E6A34A"/>
          </a:solidFill>
          <a:ln w="12700">
            <a:solidFill>
              <a:srgbClr val="E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5422392"/>
            <a:ext cx="9930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Voorzichtige groeiprognose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41248" y="5788152"/>
            <a:ext cx="9930384" cy="64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Bij consistente uitvoering is een realistische 6 tot 9 maanden groei: x2 tot x4 organisch verkeer, 5 tot 12 extra leads per maand en 1 tot 2 extra projecten per maand.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Huidige website: brochure, geen leadmachine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190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EVM Dakwerken SEO Audit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008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Positionering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25296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225296"/>
            <a:ext cx="91440" cy="123444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389888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Brochure website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1755648"/>
            <a:ext cx="3209544" cy="460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Ja. De site toont wie EVM is en wat het doet.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225296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225296"/>
            <a:ext cx="91440" cy="1234440"/>
          </a:xfrm>
          <a:prstGeom prst="rect">
            <a:avLst/>
          </a:prstGeom>
          <a:solidFill>
            <a:srgbClr val="E6A34A"/>
          </a:solidFill>
          <a:ln w="12700">
            <a:solidFill>
              <a:srgbClr val="E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1389888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Marketing website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44568" y="1755648"/>
            <a:ext cx="3209544" cy="6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Beperkt. Er is nauwelijks content die zoekverkeer actief aantrekt.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225296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CEDEC"/>
          </a:solidFill>
          <a:ln w="12700">
            <a:solidFill>
              <a:srgbClr val="FCED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225296"/>
            <a:ext cx="91440" cy="1234440"/>
          </a:xfrm>
          <a:prstGeom prst="rect">
            <a:avLst/>
          </a:prstGeom>
          <a:solidFill>
            <a:srgbClr val="C44E42"/>
          </a:solidFill>
          <a:ln w="12700">
            <a:solidFill>
              <a:srgbClr val="C44E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1389888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Leadgeneratie website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9328" y="1755648"/>
            <a:ext cx="3209544" cy="6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Nog niet. Er ontbreken commerciële landingspagina's en funnels.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743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Belangrijkste observaties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035808"/>
            <a:ext cx="5486400" cy="172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Homepage is breed en merkgericht, maar niet scherp op zoekintentie of regio.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Dienstenpagina's zijn dun: grofweg 169 tot 318 woorden per pagina.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Contactpagina mist een duidelijke H1 en sterk offertemoment boven de vouw.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vier doelprovincies worden vrijwel nergens expliciet inhoudelijk genoemd.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 zijn geen blogartikels, FAQ-pagina's, projectcases of prijsartikelen.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2834640"/>
            <a:ext cx="5074920" cy="2606040"/>
          </a:xfrm>
          <a:prstGeom prst="roundRect">
            <a:avLst>
              <a:gd name="adj" fmla="val 2807"/>
            </a:avLst>
          </a:prstGeom>
          <a:solidFill>
            <a:srgbClr val="F8FB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3035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voorbeelden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3401568"/>
          <a:ext cx="4526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Element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Huidige situatie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Homepage title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Home - EVM Dakwerken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Zonnepanelen title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zonnepanelen - EVM Dakwerken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Contact H1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Ontbreekt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Blogartikels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Lokale landingspagina's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548640" y="59436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site bewijst aanwezigheid, maar wint vandaag nauwelijks niet-merk zoekverkeer.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Algemene SEO-score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190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EVM Dakwerken SEO Audit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008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Scorekaart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Technische SEO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435608"/>
            <a:ext cx="4663440" cy="164592"/>
          </a:xfrm>
          <a:prstGeom prst="roundRect">
            <a:avLst>
              <a:gd name="adj" fmla="val 22222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1435608"/>
            <a:ext cx="2331720" cy="164592"/>
          </a:xfrm>
          <a:prstGeom prst="roundRect">
            <a:avLst>
              <a:gd name="adj" fmla="val 22222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62088" y="13990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5/10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18288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SEO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88920" y="1847088"/>
            <a:ext cx="4663440" cy="164592"/>
          </a:xfrm>
          <a:prstGeom prst="roundRect">
            <a:avLst>
              <a:gd name="adj" fmla="val 22222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1847088"/>
            <a:ext cx="1399032" cy="164592"/>
          </a:xfrm>
          <a:prstGeom prst="roundRect">
            <a:avLst>
              <a:gd name="adj" fmla="val 22222"/>
            </a:avLst>
          </a:prstGeom>
          <a:solidFill>
            <a:srgbClr val="C44E42"/>
          </a:solidFill>
          <a:ln w="12700">
            <a:solidFill>
              <a:srgbClr val="C44E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62088" y="181051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3/10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22402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SEO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88920" y="2258568"/>
            <a:ext cx="4663440" cy="164592"/>
          </a:xfrm>
          <a:prstGeom prst="roundRect">
            <a:avLst>
              <a:gd name="adj" fmla="val 22222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88920" y="2258568"/>
            <a:ext cx="932688" cy="164592"/>
          </a:xfrm>
          <a:prstGeom prst="roundRect">
            <a:avLst>
              <a:gd name="adj" fmla="val 22222"/>
            </a:avLst>
          </a:prstGeom>
          <a:solidFill>
            <a:srgbClr val="C44E42"/>
          </a:solidFill>
          <a:ln w="12700">
            <a:solidFill>
              <a:srgbClr val="C44E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62088" y="22219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2/10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265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SEO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88920" y="2670048"/>
            <a:ext cx="4663440" cy="164592"/>
          </a:xfrm>
          <a:prstGeom prst="roundRect">
            <a:avLst>
              <a:gd name="adj" fmla="val 22222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88920" y="2670048"/>
            <a:ext cx="2798064" cy="164592"/>
          </a:xfrm>
          <a:prstGeom prst="roundRect">
            <a:avLst>
              <a:gd name="adj" fmla="val 22222"/>
            </a:avLst>
          </a:prstGeom>
          <a:solidFill>
            <a:srgbClr val="E6A34A"/>
          </a:solidFill>
          <a:ln w="12700">
            <a:solidFill>
              <a:srgbClr val="E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2088" y="26334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6/10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3063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data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88920" y="3081528"/>
            <a:ext cx="4663440" cy="164592"/>
          </a:xfrm>
          <a:prstGeom prst="roundRect">
            <a:avLst>
              <a:gd name="adj" fmla="val 22222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3081528"/>
            <a:ext cx="1865376" cy="164592"/>
          </a:xfrm>
          <a:prstGeom prst="roundRect">
            <a:avLst>
              <a:gd name="adj" fmla="val 22222"/>
            </a:avLst>
          </a:prstGeom>
          <a:solidFill>
            <a:srgbClr val="E6A34A"/>
          </a:solidFill>
          <a:ln w="12700">
            <a:solidFill>
              <a:srgbClr val="E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62088" y="3044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4/10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34747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signals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88920" y="3493008"/>
            <a:ext cx="4663440" cy="164592"/>
          </a:xfrm>
          <a:prstGeom prst="roundRect">
            <a:avLst>
              <a:gd name="adj" fmla="val 22222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88920" y="3493008"/>
            <a:ext cx="1865376" cy="164592"/>
          </a:xfrm>
          <a:prstGeom prst="roundRect">
            <a:avLst>
              <a:gd name="adj" fmla="val 22222"/>
            </a:avLst>
          </a:prstGeom>
          <a:solidFill>
            <a:srgbClr val="E6A34A"/>
          </a:solidFill>
          <a:ln w="12700">
            <a:solidFill>
              <a:srgbClr val="E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62088" y="34564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4/10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0" y="1325880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EEF9F5"/>
          </a:solidFill>
          <a:ln w="12700">
            <a:solidFill>
              <a:srgbClr val="EEF9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1325880"/>
            <a:ext cx="91440" cy="1097280"/>
          </a:xfrm>
          <a:prstGeom prst="rect">
            <a:avLst/>
          </a:prstGeom>
          <a:solidFill>
            <a:srgbClr val="1F8C6D"/>
          </a:solidFill>
          <a:ln w="12700">
            <a:solidFill>
              <a:srgbClr val="1F8C6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1968" y="149047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Sterkste basispunten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601968" y="1856232"/>
            <a:ext cx="4672584" cy="6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Indexatie, canonical tags, basis contactinformatie en desktopperformantie zijn aanwezig.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0" y="2606040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FF3EE"/>
          </a:solidFill>
          <a:ln w="12700">
            <a:solidFill>
              <a:srgbClr val="FFF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2606040"/>
            <a:ext cx="91440" cy="1097280"/>
          </a:xfrm>
          <a:prstGeom prst="rect">
            <a:avLst/>
          </a:prstGeom>
          <a:solidFill>
            <a:srgbClr val="C44E42"/>
          </a:solidFill>
          <a:ln w="12700">
            <a:solidFill>
              <a:srgbClr val="C44E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277063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Grootste remmers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601968" y="3136392"/>
            <a:ext cx="4672584" cy="6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 weinig pagina's, te weinig contentdiepte, bijna geen lokale dekking en geen sterke trustlaag op de site.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00800" y="388620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F6EFE5"/>
          </a:solidFill>
          <a:ln w="12700">
            <a:solidFill>
              <a:srgbClr val="F6EF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0" y="3886200"/>
            <a:ext cx="91440" cy="1234440"/>
          </a:xfrm>
          <a:prstGeom prst="rect">
            <a:avLst/>
          </a:prstGeom>
          <a:solidFill>
            <a:srgbClr val="E6A34A"/>
          </a:solidFill>
          <a:ln w="12700">
            <a:solidFill>
              <a:srgbClr val="E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01968" y="405079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 dit commercieel betekent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601968" y="4416552"/>
            <a:ext cx="4672584" cy="6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EVM is vandaag vooral op merknaam vindbaar. Wie zoekt op dienst + regio komt meestal bij concurrenten of grotere contentspelers uit.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Core Web Vitals: mobiel is de bottleneck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190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EVM Dakwerken SEO Audit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008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Prestatie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51663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691640"/>
                <a:gridCol w="1371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Doel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Huidig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Beoordeling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LCP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2,5 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7,6 s mobiel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Slecht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INP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200 ms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geen velddata; TBT 20 ms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Neutraal tot goed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0,10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0,00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Desktop LCP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2,5 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1,8 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384048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3840480"/>
            <a:ext cx="91440" cy="14173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4005072"/>
            <a:ext cx="4855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Vertaling in mensentaal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41248" y="4370832"/>
            <a:ext cx="4855464" cy="79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Mobiel komt de belangrijkste content te laat in beeld. Dat remt zowel SEO als conversie, zeker bij bezoekers die snel willen vergelijken of een offerte willen aanvragen.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7920" y="132588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325880"/>
            <a:ext cx="91440" cy="1417320"/>
          </a:xfrm>
          <a:prstGeom prst="rect">
            <a:avLst/>
          </a:prstGeom>
          <a:solidFill>
            <a:srgbClr val="E6A34A"/>
          </a:solidFill>
          <a:ln w="12700">
            <a:solidFill>
              <a:srgbClr val="E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19088" y="1490472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Waarschijnlijkste oorzaak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19088" y="1856232"/>
            <a:ext cx="4992624" cy="79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server is niet extreem traag. Het grootste probleem zit vooral in zware boven-de-vouw afbeeldingen, renderpad en beperkte caching op statische assets.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00800" y="3154680"/>
            <a:ext cx="4663440" cy="1181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hero- en sliderbeelden omzetten naar WebP of AVIF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CDN toevoegen voor snellere assetlevering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caching instellen op afbeeldingen en scripts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enkel de eerste zichtbare afbeelding prioriteit geven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overige beelden onder de vouw lazy loaden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6355080" y="5532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CDN = een netwerk van servers dat afbeeldingen en bestanden dichter bij de bezoeker levert, zodat de site sneller laadt.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Afbeelding-SEO en on-page quick wins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190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EVM Dakwerken SEO Audit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008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/ after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56235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2788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Afbeelding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Huidige alt-tag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Verbetering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Hero homepage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leeg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dakrenovatie door EVM Dakwerken in provincie Antwerpen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Sliderfoto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hash / bestandsnaam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plat dak renovatie met waterdichte afwerking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Projectfoto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hash / bestandsnaam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industrieel dak met sandwichpanelen geplaatst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Logo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leeg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EVM Dakwerken logo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3977640"/>
            <a:ext cx="5623560" cy="1371600"/>
          </a:xfrm>
          <a:prstGeom prst="roundRect">
            <a:avLst>
              <a:gd name="adj" fmla="val 5333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3977640"/>
            <a:ext cx="91440" cy="13716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4142232"/>
            <a:ext cx="5312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Waarom dit belangrijk is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41248" y="4507992"/>
            <a:ext cx="5312664" cy="79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Goede alt-tags helpen voor SEO, Google Images en toegankelijkheid. Vandaag missen bijna alle betekenisvolle beelden context of bevatten ze alleen bestandsnamen.</a:t>
            </a:r>
            <a:endParaRPr lang="en-US" sz="11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0020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Element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Huidig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Aanbevolen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Homepage title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Home - EVM Dakwerken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Dakwerken Antwerpen | Hellende, Platte en Industriële Daken | EVM Dakwerken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Zonnepanelen title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zonnepanelen - EVM Dakwerken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Indak zonnepanelen plaatsen | EVM Dakwerken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Contact H1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ontbreekt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Vraag uw offerte voor dakwerken aan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URL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/nieuwbouw-renovatie/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/hellend-dak-renoveren/ en /plat-dak-renoveren/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400800" y="3977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EF9F5"/>
          </a:solidFill>
          <a:ln w="12700">
            <a:solidFill>
              <a:srgbClr val="EEF9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3977640"/>
            <a:ext cx="91440" cy="1371600"/>
          </a:xfrm>
          <a:prstGeom prst="rect">
            <a:avLst/>
          </a:prstGeom>
          <a:solidFill>
            <a:srgbClr val="1F8C6D"/>
          </a:solidFill>
          <a:ln w="12700">
            <a:solidFill>
              <a:srgbClr val="1F8C6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601968" y="4142232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 van deze quick wins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601968" y="4507992"/>
            <a:ext cx="4809744" cy="79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Deze verbeteringen lossen op zichzelf de groei niet op, maar ze verhogen wel de klikpotentie, begrijpbaarheid en basisrelevantie van de site.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Concurrentie: online footprint is vandaag te klein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190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EVM Dakwerken SEO Audit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008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37160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537960" y="1389888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37960" y="1389888"/>
            <a:ext cx="91440" cy="1143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39128" y="1554480"/>
            <a:ext cx="4581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Kijzer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739128" y="1920240"/>
            <a:ext cx="4581144" cy="6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Sterk op werkgebiedpagina's, inspiratiecontent en schaal. Publiek zichtbaar: meer dan 1.200 sitemap-URL's.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37960" y="2697480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EEF9F5"/>
          </a:solidFill>
          <a:ln w="12700">
            <a:solidFill>
              <a:srgbClr val="EEF9F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2697480"/>
            <a:ext cx="91440" cy="1143000"/>
          </a:xfrm>
          <a:prstGeom prst="rect">
            <a:avLst/>
          </a:prstGeom>
          <a:solidFill>
            <a:srgbClr val="1F8C6D"/>
          </a:solidFill>
          <a:ln w="12700">
            <a:solidFill>
              <a:srgbClr val="1F8C6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39128" y="2862072"/>
            <a:ext cx="4581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Recotex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739128" y="3227832"/>
            <a:ext cx="4581144" cy="6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Compacter dan Kijzer, maar commercieel sterker opgebouwd met diensten, realisaties en ondersteunende content.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537960" y="4005072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37960" y="4005072"/>
            <a:ext cx="91440" cy="1143000"/>
          </a:xfrm>
          <a:prstGeom prst="rect">
            <a:avLst/>
          </a:prstGeom>
          <a:solidFill>
            <a:srgbClr val="E6A34A"/>
          </a:solidFill>
          <a:ln w="12700">
            <a:solidFill>
              <a:srgbClr val="E6A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39128" y="4169664"/>
            <a:ext cx="4581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 dit voor EVM betekent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739128" y="4535424"/>
            <a:ext cx="4581144" cy="6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online markt wordt niet gewonnen op merk, maar op pagina-aantal, contentdiepte, lokale dekking en vertrouwen.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40080" y="52578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Waarom concurrenten beter ranken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0080" y="5559552"/>
            <a:ext cx="5303520" cy="1009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meer aparte dienst- en regiopagina's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veel meer blog- en vraagcontent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meer interne links en topical authority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sterkere kans op backlinks en merkmentions</a:t>
            </a:r>
            <a:endParaRPr lang="en-US" sz="11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Keyword gap: de grootste kansen zitten in niet-merkverkeer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190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EVM Dakwerken SEO Audit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008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Zoekvraag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53312"/>
          <a:ext cx="5623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97280"/>
                <a:gridCol w="1965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Zoekwoord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Indicatief volume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 EVM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dakrenovatie Antwerpen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zwakke zichtbaarheid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plat dak Antwerpen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zwakke zichtbaarheid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hellend dak renoveren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zwakke zichtbaarheid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epdm of roofing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geen geschikte pagina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asbest dak vervangen kostprijs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geen sterke prijscontent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dakwerker Vlaams-Brabant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geen regiohub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dakwerker Oost-Vlaanderen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geen regiohub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dakwerker West-Vlaanderen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geen regiohub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0" y="137160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1371600"/>
            <a:ext cx="91440" cy="10972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01968" y="1536192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Belangrijk inzicht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01968" y="1901952"/>
            <a:ext cx="4764024" cy="79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huidige site vangt vooral merkverkeer op. De echte SEO-kans zit in zoekopdrachten waar mensen al een concreet probleem of project in gedachten hebben.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0" y="2670048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EEF9F5"/>
          </a:solidFill>
          <a:ln w="12700">
            <a:solidFill>
              <a:srgbClr val="EEF9F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2670048"/>
            <a:ext cx="91440" cy="1097280"/>
          </a:xfrm>
          <a:prstGeom prst="rect">
            <a:avLst/>
          </a:prstGeom>
          <a:solidFill>
            <a:srgbClr val="1F8C6D"/>
          </a:solidFill>
          <a:ln w="12700">
            <a:solidFill>
              <a:srgbClr val="1F8C6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01968" y="2834640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 we nodig hebben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601968" y="3200400"/>
            <a:ext cx="4764024" cy="6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Commerciële dienstpagina's, prijscontent, FAQ's, vergelijkingen en regiohubs die perfect aansluiten op koopintentie.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0" y="3968496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6EFE5"/>
          </a:solidFill>
          <a:ln w="12700">
            <a:solidFill>
              <a:srgbClr val="F6EF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0" y="3968496"/>
            <a:ext cx="91440" cy="1325880"/>
          </a:xfrm>
          <a:prstGeom prst="rect">
            <a:avLst/>
          </a:prstGeom>
          <a:solidFill>
            <a:srgbClr val="E6A34A"/>
          </a:solidFill>
          <a:ln w="12700">
            <a:solidFill>
              <a:srgbClr val="E6A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01968" y="4133088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Voorbeelden van snelle win-content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601968" y="4498848"/>
            <a:ext cx="4764024" cy="6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 kost een dakrenovatie, EPDM vs roofing, wanneer moet een dak vervangen worden, indak zonnepanelen vs opbouwpanelen.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Ideale structuur: van 12 naar ongeveer 100 pagina's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190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EVM Dakwerken SEO Audit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008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Nieuwe informatiearchitectuur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5448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F2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Homepage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2697480" y="1417320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EEF9F5"/>
          </a:solidFill>
          <a:ln w="12700">
            <a:solidFill>
              <a:srgbClr val="EEF9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0632" y="155448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F2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Diensten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4846320" y="1417320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55448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F2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Regio's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995160" y="1417320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F8F0FF"/>
          </a:solidFill>
          <a:ln w="12700">
            <a:solidFill>
              <a:srgbClr val="F8F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68312" y="155448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F2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Blog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9144000" y="141732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FCEDEC"/>
          </a:solidFill>
          <a:ln w="12700">
            <a:solidFill>
              <a:srgbClr val="FCED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17152" y="1554480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F2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Projecten / offerte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2286000" y="1645920"/>
            <a:ext cx="41148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1645920"/>
            <a:ext cx="41148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1645920"/>
            <a:ext cx="41148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32520" y="1645920"/>
            <a:ext cx="41148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22402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9FCFF"/>
          </a:solidFill>
          <a:ln w="12700">
            <a:solidFill>
              <a:srgbClr val="F9FC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240280"/>
            <a:ext cx="91440" cy="196596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240487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Kernservices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86968" y="2770632"/>
            <a:ext cx="2249424" cy="163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Dakrenovatie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 dak renoveren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Hellend dak renoveren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Industriële daken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Indak zonnepanelen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Dakisolatie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Asbestdak vervangen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Dakinspectie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29000" y="22402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9FCFF"/>
          </a:solidFill>
          <a:ln w="12700">
            <a:solidFill>
              <a:srgbClr val="F9FC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2240280"/>
            <a:ext cx="91440" cy="1965960"/>
          </a:xfrm>
          <a:prstGeom prst="rect">
            <a:avLst/>
          </a:prstGeom>
          <a:solidFill>
            <a:srgbClr val="1F8C6D"/>
          </a:solidFill>
          <a:ln w="12700">
            <a:solidFill>
              <a:srgbClr val="1F8C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240487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Provinciehubs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630168" y="2770632"/>
            <a:ext cx="2249424" cy="9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Antwerpen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Vlaams-Brabant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Oost-Vlaanderen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West-Vlaanderen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22402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9FCFF"/>
          </a:solidFill>
          <a:ln w="12700">
            <a:solidFill>
              <a:srgbClr val="F9FC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2240280"/>
            <a:ext cx="91440" cy="1965960"/>
          </a:xfrm>
          <a:prstGeom prst="rect">
            <a:avLst/>
          </a:prstGeom>
          <a:solidFill>
            <a:srgbClr val="E6A34A"/>
          </a:solidFill>
          <a:ln w="12700">
            <a:solidFill>
              <a:srgbClr val="E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3368" y="240487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Steden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73368" y="2770632"/>
            <a:ext cx="2249424" cy="163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Antwerpen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Brasschaat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Schoten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Kapellen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Wuustwezel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Kalmthout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Leuven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915400" y="22402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9FCFF"/>
          </a:solidFill>
          <a:ln w="12700">
            <a:solidFill>
              <a:srgbClr val="F9FC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15400" y="2240280"/>
            <a:ext cx="91440" cy="1965960"/>
          </a:xfrm>
          <a:prstGeom prst="rect">
            <a:avLst/>
          </a:prstGeom>
          <a:solidFill>
            <a:srgbClr val="C44E42"/>
          </a:solidFill>
          <a:ln w="12700">
            <a:solidFill>
              <a:srgbClr val="C44E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16568" y="240487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Contentcluster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116568" y="2770632"/>
            <a:ext cx="2249424" cy="1300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Prijsartikelen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Vergelijkingen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FAQ's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Stappenplannen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Projectcases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Dienst + stad pagina's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85800" y="475488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F6EFE5"/>
          </a:solidFill>
          <a:ln w="12700">
            <a:solidFill>
              <a:srgbClr val="F6EF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4754880"/>
            <a:ext cx="91440" cy="1051560"/>
          </a:xfrm>
          <a:prstGeom prst="rect">
            <a:avLst/>
          </a:prstGeom>
          <a:solidFill>
            <a:srgbClr val="E6A34A"/>
          </a:solidFill>
          <a:ln w="12700">
            <a:solidFill>
              <a:srgbClr val="E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" y="4919472"/>
            <a:ext cx="10479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Doelbeeld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86968" y="5285232"/>
            <a:ext cx="10479024" cy="6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Ongeveer 100 tot 110 strategische pagina's: genoeg schaal om in meerdere provincies niet-merkverkeer op te bouwen, zonder in irrelevante massapagina's te vervallen.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Contentstrategie en GEO: zichtbaar worden in Google en 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190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EVM Dakwerken SEO Audit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008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Pillar + cluster + AI-citeerbare formats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642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Pillar page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Dakrenovatie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069080" y="1280160"/>
            <a:ext cx="3154680" cy="512064"/>
          </a:xfrm>
          <a:prstGeom prst="roundRect">
            <a:avLst>
              <a:gd name="adj" fmla="val 7143"/>
            </a:avLst>
          </a:prstGeom>
          <a:solidFill>
            <a:srgbClr val="EEF9F5"/>
          </a:solidFill>
          <a:ln w="12700">
            <a:solidFill>
              <a:srgbClr val="EEF9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43560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 kost een dakrenovatie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3383280" y="1874520"/>
            <a:ext cx="685800" cy="-347472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2057400"/>
            <a:ext cx="3154680" cy="512064"/>
          </a:xfrm>
          <a:prstGeom prst="roundRect">
            <a:avLst>
              <a:gd name="adj" fmla="val 7143"/>
            </a:avLst>
          </a:prstGeom>
          <a:solidFill>
            <a:srgbClr val="EEF9F5"/>
          </a:solidFill>
          <a:ln w="12700">
            <a:solidFill>
              <a:srgbClr val="EEF9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221284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EPDM vs roofing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3383280" y="1874520"/>
            <a:ext cx="685800" cy="429768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9080" y="2834640"/>
            <a:ext cx="3154680" cy="512064"/>
          </a:xfrm>
          <a:prstGeom prst="roundRect">
            <a:avLst>
              <a:gd name="adj" fmla="val 7143"/>
            </a:avLst>
          </a:prstGeom>
          <a:solidFill>
            <a:srgbClr val="EEF9F5"/>
          </a:solidFill>
          <a:ln w="12700">
            <a:solidFill>
              <a:srgbClr val="EEF9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299008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Wanneer moet een dak vervangen worden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3383280" y="1874520"/>
            <a:ext cx="685800" cy="1207008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69080" y="3611880"/>
            <a:ext cx="3154680" cy="512064"/>
          </a:xfrm>
          <a:prstGeom prst="roundRect">
            <a:avLst>
              <a:gd name="adj" fmla="val 7143"/>
            </a:avLst>
          </a:prstGeom>
          <a:solidFill>
            <a:srgbClr val="EEF9F5"/>
          </a:solidFill>
          <a:ln w="12700">
            <a:solidFill>
              <a:srgbClr val="EEF9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376732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Dakisolatie bij renovatie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3383280" y="1874520"/>
            <a:ext cx="685800" cy="1984248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69080" y="4389120"/>
            <a:ext cx="3154680" cy="512064"/>
          </a:xfrm>
          <a:prstGeom prst="roundRect">
            <a:avLst>
              <a:gd name="adj" fmla="val 7143"/>
            </a:avLst>
          </a:prstGeom>
          <a:solidFill>
            <a:srgbClr val="EEF9F5"/>
          </a:solidFill>
          <a:ln w="12700">
            <a:solidFill>
              <a:srgbClr val="EEF9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454456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Indak zonnepanelen of opbouwpanelen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3383280" y="1874520"/>
            <a:ext cx="685800" cy="2761488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26680" y="1371600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FFF3EE"/>
          </a:solidFill>
          <a:ln w="12700">
            <a:solidFill>
              <a:srgbClr val="FFF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26680" y="1371600"/>
            <a:ext cx="91440" cy="1005840"/>
          </a:xfrm>
          <a:prstGeom prst="rect">
            <a:avLst/>
          </a:prstGeom>
          <a:solidFill>
            <a:srgbClr val="C44E42"/>
          </a:solidFill>
          <a:ln w="12700">
            <a:solidFill>
              <a:srgbClr val="C44E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27848" y="1536192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Huidige GEO-score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927848" y="1901952"/>
            <a:ext cx="3438144" cy="79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Laag. De site heeft bijna geen FAQ's, prijsartikelen, vergelijkingen of stappenplannen die AI-systemen makkelijk kunnen citeren.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26680" y="2606040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26680" y="2606040"/>
            <a:ext cx="91440" cy="100584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27848" y="2770632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 AI graag citeert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927848" y="3136392"/>
            <a:ext cx="3438144" cy="79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Directe antwoorden, tabellen, prijsranges, voor- en nadelen, heldere definities en goed gestructureerde FAQ's.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26680" y="384048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EEF9F5"/>
          </a:solidFill>
          <a:ln w="12700">
            <a:solidFill>
              <a:srgbClr val="EEF9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26680" y="3840480"/>
            <a:ext cx="91440" cy="1234440"/>
          </a:xfrm>
          <a:prstGeom prst="rect">
            <a:avLst/>
          </a:prstGeom>
          <a:solidFill>
            <a:srgbClr val="1F8C6D"/>
          </a:solidFill>
          <a:ln w="12700">
            <a:solidFill>
              <a:srgbClr val="1F8C6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27848" y="4005072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Snelle GEO-wins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927848" y="4370832"/>
            <a:ext cx="3438144" cy="79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Publiceer meteen 3 kernstukken: EPDM vs roofing, Wat kost een dakrenovatie, Wanneer moet een dak vervangen worden.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Roadmap: wat doen we wanneer?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190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EVM Dakwerken SEO Audit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008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maanden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361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Maand 1-2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1938528"/>
            <a:ext cx="3337560" cy="1145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titles, meta's en H1's herschrijven</a:t>
            </a:r>
            <a:endParaRPr lang="en-US" sz="1130" dirty="0"/>
          </a:p>
          <a:p>
            <a:pPr marL="177800" indent="-1778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data corrigeren</a:t>
            </a:r>
            <a:endParaRPr lang="en-US" sz="1130" dirty="0"/>
          </a:p>
          <a:p>
            <a:pPr marL="177800" indent="-1778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homepage en contact verbeteren</a:t>
            </a:r>
            <a:endParaRPr lang="en-US" sz="1130" dirty="0"/>
          </a:p>
          <a:p>
            <a:pPr marL="177800" indent="-1778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kernservicepagina's bouwen</a:t>
            </a:r>
            <a:endParaRPr lang="en-US" sz="1130" dirty="0"/>
          </a:p>
          <a:p>
            <a:pPr marL="177800" indent="-1778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alt-tags, caching en beeldoptimalisatie aanpakken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297680" y="137160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EEF9F5"/>
          </a:solidFill>
          <a:ln w="12700">
            <a:solidFill>
              <a:srgbClr val="EEF9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5361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Maand 3-4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62272" y="1938528"/>
            <a:ext cx="3337560" cy="1145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provinciehubs publiceren</a:t>
            </a:r>
            <a:endParaRPr lang="en-US" sz="1130" dirty="0"/>
          </a:p>
          <a:p>
            <a:pPr marL="177800" indent="-1778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eerste service + stad pagina's lanceren</a:t>
            </a:r>
            <a:endParaRPr lang="en-US" sz="1130" dirty="0"/>
          </a:p>
          <a:p>
            <a:pPr marL="177800" indent="-1778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blog en FAQ-architectuur opstarten</a:t>
            </a:r>
            <a:endParaRPr lang="en-US" sz="1130" dirty="0"/>
          </a:p>
          <a:p>
            <a:pPr marL="177800" indent="-1778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eerste projectcases live zetten</a:t>
            </a:r>
            <a:endParaRPr lang="en-US" sz="1130" dirty="0"/>
          </a:p>
          <a:p>
            <a:pPr marL="177800" indent="-1778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GBP review- en postritme activeren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5361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Maand 5-6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11312" y="1938528"/>
            <a:ext cx="3337560" cy="1145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lokale clusters uitbreiden</a:t>
            </a:r>
            <a:endParaRPr lang="en-US" sz="1130" dirty="0"/>
          </a:p>
          <a:p>
            <a:pPr marL="177800" indent="-1778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 blogs en cases publiceren</a:t>
            </a:r>
            <a:endParaRPr lang="en-US" sz="1130" dirty="0"/>
          </a:p>
          <a:p>
            <a:pPr marL="177800" indent="-1778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backlinks en lokale citations opbouwen</a:t>
            </a:r>
            <a:endParaRPr lang="en-US" sz="1130" dirty="0"/>
          </a:p>
          <a:p>
            <a:pPr marL="177800" indent="-1778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aanscherpen via Search Console inzichten</a:t>
            </a:r>
            <a:endParaRPr lang="en-US" sz="1130" dirty="0"/>
          </a:p>
          <a:p>
            <a:pPr marL="177800" indent="-177800">
              <a:buSzPct val="100000"/>
              <a:buChar char="•"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scorende pagina's verder uitdiepen</a:t>
            </a:r>
            <a:endParaRPr lang="en-US" sz="11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Impact en opbrengst: een voorzichtige businesscase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190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EVM Dakwerken SEO Audit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008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Conservatief scenario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5212080" cy="749808"/>
          </a:xfrm>
          <a:prstGeom prst="chevr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158191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A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+250 tot +450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4712" y="1828800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 relevante bezoekers / maand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2377440"/>
            <a:ext cx="4297680" cy="749808"/>
          </a:xfrm>
          <a:prstGeom prst="chevron">
            <a:avLst/>
          </a:prstGeom>
          <a:solidFill>
            <a:srgbClr val="EEF9F5"/>
          </a:solidFill>
          <a:ln w="12700">
            <a:solidFill>
              <a:srgbClr val="EEF9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54203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8C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tot 13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24712" y="2788920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 leads / maand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3337560"/>
            <a:ext cx="3200400" cy="749808"/>
          </a:xfrm>
          <a:prstGeom prst="chevron">
            <a:avLst/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50215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tot 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24712" y="374904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 projecten / maand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4297680"/>
            <a:ext cx="2194560" cy="749808"/>
          </a:xfrm>
          <a:prstGeom prst="chevron">
            <a:avLst/>
          </a:prstGeom>
          <a:solidFill>
            <a:srgbClr val="FCEDEC"/>
          </a:solidFill>
          <a:ln w="12700">
            <a:solidFill>
              <a:srgbClr val="FCED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4712" y="44622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4E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15k - 30k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4712" y="47091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 potentiële omzet / maand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0" y="1444752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1444752"/>
            <a:ext cx="91440" cy="1143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4848" y="1609344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Aannames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84848" y="1975104"/>
            <a:ext cx="4443984" cy="6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Voorzichtige aannames: 2% tot 3% leadconversie, 15% tot 20% close rate en een gemiddelde projectwaarde van EUR 15.000.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0" y="2761488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EEF9F5"/>
          </a:solidFill>
          <a:ln w="12700">
            <a:solidFill>
              <a:srgbClr val="EEF9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2761488"/>
            <a:ext cx="91440" cy="1143000"/>
          </a:xfrm>
          <a:prstGeom prst="rect">
            <a:avLst/>
          </a:prstGeom>
          <a:solidFill>
            <a:srgbClr val="1F8C6D"/>
          </a:solidFill>
          <a:ln w="12700">
            <a:solidFill>
              <a:srgbClr val="1F8C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4848" y="2926080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Waarom dit voorzichtig is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84848" y="3291840"/>
            <a:ext cx="4443984" cy="6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Bij industriële daken of grotere renovaties kan de gemiddelde projectwaarde hoger liggen. De echte upside kan dus groter zijn.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0" y="4078224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F6EFE5"/>
          </a:solidFill>
          <a:ln w="12700">
            <a:solidFill>
              <a:srgbClr val="F6EF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0" y="4078224"/>
            <a:ext cx="91440" cy="1280160"/>
          </a:xfrm>
          <a:prstGeom prst="rect">
            <a:avLst/>
          </a:prstGeom>
          <a:solidFill>
            <a:srgbClr val="E6A34A"/>
          </a:solidFill>
          <a:ln w="12700">
            <a:solidFill>
              <a:srgbClr val="E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84848" y="4242816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Belangrijkste boodschap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784848" y="4608576"/>
            <a:ext cx="4443984" cy="79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SEO hoeft hier geen honderden leads op te leveren om rendabel te zijn. In deze markt maken al 1 à 2 extra projecten per maand een groot verschil.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Beslisvoorstel: waar starten we?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190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EVM Dakwerken SEO Audit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008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5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Topprioriteiten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5532120" cy="160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Nieuwe kernpagina's voor plat dak, hellend dak, sandwichpanelen en indak zonnepanelen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Provincie- en service + stad pagina's voor de prioritaire regio's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Prijs-, vergelijking- en FAQ-content die zowel voor SEO als sales werkt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Technische quick wins: metadata, alt-tags, structured data en caching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Reviewflow, projectcases en GBP-updates voor vertrouwen en lokale zichtbaarheid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6492240" y="1417320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417320"/>
            <a:ext cx="91440" cy="10972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3408" y="158191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Hoe we dit klantvriendelijk presenteren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93408" y="1947672"/>
            <a:ext cx="4672584" cy="79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Niet als een technisch rapport, maar als een groeiverhaal: waar staan we, waarom verliezen we zichtbaarheid, wat doen we eerst en wat levert het op.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2697480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EEF9F5"/>
          </a:solidFill>
          <a:ln w="12700">
            <a:solidFill>
              <a:srgbClr val="EEF9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697480"/>
            <a:ext cx="91440" cy="1097280"/>
          </a:xfrm>
          <a:prstGeom prst="rect">
            <a:avLst/>
          </a:prstGeom>
          <a:solidFill>
            <a:srgbClr val="1F8C6D"/>
          </a:solidFill>
          <a:ln w="12700">
            <a:solidFill>
              <a:srgbClr val="1F8C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93408" y="286207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Aanbevolen meetingflow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93408" y="3227832"/>
            <a:ext cx="4672584" cy="1132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Samenvatting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Benchmark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Kansen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Roadmap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Beslissing over fase 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397764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6EFE5"/>
          </a:solidFill>
          <a:ln w="12700">
            <a:solidFill>
              <a:srgbClr val="F6EF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3977640"/>
            <a:ext cx="91440" cy="1325880"/>
          </a:xfrm>
          <a:prstGeom prst="rect">
            <a:avLst/>
          </a:prstGeom>
          <a:solidFill>
            <a:srgbClr val="E6A34A"/>
          </a:solidFill>
          <a:ln w="12700">
            <a:solidFill>
              <a:srgbClr val="E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3408" y="414223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Volgende stap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93408" y="4507992"/>
            <a:ext cx="4672584" cy="79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Deze deck kan meteen dienen als klantpresentatie. Daarna kunnen we er een kortere salesversie of een uitvoeringsdeck voor intern gebruik van maken.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" y="5394960"/>
            <a:ext cx="10835640" cy="502920"/>
          </a:xfrm>
          <a:prstGeom prst="roundRect">
            <a:avLst>
              <a:gd name="adj" fmla="val 7273"/>
            </a:avLst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550408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Aanbevolen boodschap aan de klant: de basis is bruikbaar, maar de echte groei komt pas zodra de site commercieel en lokaal wordt uitgebouwd.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EVM Dakwerken SEO Audit</dc:title>
  <dc:subject>SEO audit presentatie voor EVM Dakwerken</dc:subject>
  <dc:creator>OpenAI Codex</dc:creator>
  <cp:lastModifiedBy>OpenAI Codex</cp:lastModifiedBy>
  <cp:revision>1</cp:revision>
  <dcterms:created xsi:type="dcterms:W3CDTF">2026-03-14T16:08:29Z</dcterms:created>
  <dcterms:modified xsi:type="dcterms:W3CDTF">2026-03-14T16:08:29Z</dcterms:modified>
</cp:coreProperties>
</file>